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custDataLst>
    <p:tags r:id="rId8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16" userDrawn="1">
          <p15:clr>
            <a:srgbClr val="A4A3A4"/>
          </p15:clr>
        </p15:guide>
        <p15:guide id="3" orient="horz" pos="24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2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171450"/>
            <a:ext cx="1219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72033"/>
                </a:solidFill>
              </a:defRPr>
            </a:pPr>
            <a:r>
              <a:rPr sz="2800" b="1">
                <a:solidFill>
                  <a:srgbClr val="172033"/>
                </a:solidFill>
              </a:rPr>
              <a:t>交通信号控制系统总体架构图</a:t>
            </a:r>
            <a:endParaRPr sz="2800" b="1">
              <a:solidFill>
                <a:srgbClr val="17203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238250" y="514350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475569"/>
                </a:solidFill>
              </a:defRPr>
            </a:pPr>
            <a:r>
              <a:rPr sz="1400" b="1">
                <a:solidFill>
                  <a:srgbClr val="475569"/>
                </a:solidFill>
              </a:rPr>
              <a:t>前端大屏统一接入 Spring Boot 主后端，后端编排 CityFlow 仿真、策略控制、应急绿波、数据分析与智能体服务</a:t>
            </a:r>
            <a:endParaRPr sz="1400" b="1">
              <a:solidFill>
                <a:srgbClr val="475569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228600" y="952500"/>
            <a:ext cx="1028700" cy="781050"/>
          </a:xfrm>
          <a:prstGeom prst="roundRect">
            <a:avLst>
              <a:gd name="adj" fmla="val 14634"/>
            </a:avLst>
          </a:prstGeom>
          <a:solidFill>
            <a:srgbClr val="F8C8CE"/>
          </a:solidFill>
          <a:ln w="17145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1425" b="1">
                <a:solidFill>
                  <a:srgbClr val="263238"/>
                </a:solidFill>
              </a:defRPr>
            </a:pPr>
            <a:r>
              <a:rPr sz="1800" b="1">
                <a:solidFill>
                  <a:srgbClr val="263238"/>
                </a:solidFill>
              </a:rPr>
              <a:t>前端</a:t>
            </a:r>
            <a:endParaRPr sz="1800" b="1">
              <a:solidFill>
                <a:srgbClr val="263238"/>
              </a:solidFill>
            </a:endParaRPr>
          </a:p>
          <a:p>
            <a:pPr algn="ctr">
              <a:defRPr sz="1425" b="1">
                <a:solidFill>
                  <a:srgbClr val="263238"/>
                </a:solidFill>
              </a:defRPr>
            </a:pPr>
            <a:r>
              <a:rPr sz="1800" b="1">
                <a:solidFill>
                  <a:srgbClr val="263238"/>
                </a:solidFill>
              </a:rPr>
              <a:t>展示层</a:t>
            </a:r>
            <a:endParaRPr sz="1800" b="1">
              <a:solidFill>
                <a:srgbClr val="263238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209550" y="1885950"/>
            <a:ext cx="1028700" cy="1562100"/>
          </a:xfrm>
          <a:prstGeom prst="roundRect">
            <a:avLst>
              <a:gd name="adj" fmla="val 11111"/>
            </a:avLst>
          </a:prstGeom>
          <a:solidFill>
            <a:srgbClr val="F8C8CE"/>
          </a:solidFill>
          <a:ln w="17145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1425" b="1">
                <a:solidFill>
                  <a:srgbClr val="263238"/>
                </a:solidFill>
              </a:defRPr>
            </a:pPr>
            <a:r>
              <a:rPr sz="1800" b="1">
                <a:solidFill>
                  <a:srgbClr val="263238"/>
                </a:solidFill>
              </a:rPr>
              <a:t>后端</a:t>
            </a:r>
            <a:endParaRPr sz="1800" b="1">
              <a:solidFill>
                <a:srgbClr val="263238"/>
              </a:solidFill>
            </a:endParaRPr>
          </a:p>
          <a:p>
            <a:pPr algn="ctr">
              <a:defRPr sz="1425" b="1">
                <a:solidFill>
                  <a:srgbClr val="263238"/>
                </a:solidFill>
              </a:defRPr>
            </a:pPr>
            <a:r>
              <a:rPr sz="1800" b="1">
                <a:solidFill>
                  <a:srgbClr val="263238"/>
                </a:solidFill>
              </a:rPr>
              <a:t>业务层</a:t>
            </a:r>
            <a:endParaRPr sz="1800" b="1">
              <a:solidFill>
                <a:srgbClr val="263238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91770" y="3836035"/>
            <a:ext cx="1028700" cy="1057910"/>
          </a:xfrm>
          <a:prstGeom prst="roundRect">
            <a:avLst>
              <a:gd name="adj" fmla="val 11650"/>
            </a:avLst>
          </a:prstGeom>
          <a:solidFill>
            <a:srgbClr val="F8C8CE"/>
          </a:solidFill>
          <a:ln w="17145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1425" b="1">
                <a:solidFill>
                  <a:srgbClr val="263238"/>
                </a:solidFill>
              </a:defRPr>
            </a:pPr>
            <a:r>
              <a:rPr sz="1800" b="1">
                <a:solidFill>
                  <a:srgbClr val="263238"/>
                </a:solidFill>
              </a:rPr>
              <a:t>仿真</a:t>
            </a:r>
            <a:endParaRPr sz="1800" b="1">
              <a:solidFill>
                <a:srgbClr val="263238"/>
              </a:solidFill>
            </a:endParaRPr>
          </a:p>
          <a:p>
            <a:pPr algn="ctr">
              <a:defRPr sz="1425" b="1">
                <a:solidFill>
                  <a:srgbClr val="263238"/>
                </a:solidFill>
              </a:defRPr>
            </a:pPr>
            <a:r>
              <a:rPr sz="1800" b="1">
                <a:solidFill>
                  <a:srgbClr val="263238"/>
                </a:solidFill>
              </a:rPr>
              <a:t>算法层</a:t>
            </a:r>
            <a:endParaRPr sz="1800" b="1">
              <a:solidFill>
                <a:srgbClr val="263238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28600" y="5362575"/>
            <a:ext cx="1028700" cy="781050"/>
          </a:xfrm>
          <a:prstGeom prst="roundRect">
            <a:avLst>
              <a:gd name="adj" fmla="val 14634"/>
            </a:avLst>
          </a:prstGeom>
          <a:solidFill>
            <a:srgbClr val="F8C8CE"/>
          </a:solidFill>
          <a:ln w="17145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1425" b="1">
                <a:solidFill>
                  <a:srgbClr val="263238"/>
                </a:solidFill>
              </a:defRPr>
            </a:pPr>
            <a:r>
              <a:rPr sz="1800" b="1">
                <a:solidFill>
                  <a:srgbClr val="263238"/>
                </a:solidFill>
              </a:rPr>
              <a:t>数据</a:t>
            </a:r>
            <a:endParaRPr sz="1800" b="1">
              <a:solidFill>
                <a:srgbClr val="263238"/>
              </a:solidFill>
            </a:endParaRPr>
          </a:p>
          <a:p>
            <a:pPr algn="ctr">
              <a:defRPr sz="1425" b="1">
                <a:solidFill>
                  <a:srgbClr val="263238"/>
                </a:solidFill>
              </a:defRPr>
            </a:pPr>
            <a:r>
              <a:rPr sz="1800" b="1">
                <a:solidFill>
                  <a:srgbClr val="263238"/>
                </a:solidFill>
              </a:rPr>
              <a:t>存储层</a:t>
            </a:r>
            <a:endParaRPr sz="1800" b="1">
              <a:solidFill>
                <a:srgbClr val="263238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1343025" y="952500"/>
            <a:ext cx="8091805" cy="781050"/>
          </a:xfrm>
          <a:prstGeom prst="roundRect">
            <a:avLst>
              <a:gd name="adj" fmla="val 14634"/>
            </a:avLst>
          </a:prstGeom>
          <a:solidFill>
            <a:srgbClr val="FFF0C2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4" name="圆角矩形 33"/>
          <p:cNvSpPr>
            <a:spLocks noGrp="1"/>
          </p:cNvSpPr>
          <p:nvPr/>
        </p:nvSpPr>
        <p:spPr>
          <a:xfrm>
            <a:off x="2821940" y="1123950"/>
            <a:ext cx="1026160" cy="400050"/>
          </a:xfrm>
          <a:prstGeom prst="roundRect">
            <a:avLst>
              <a:gd name="adj" fmla="val 28571"/>
            </a:avLst>
          </a:prstGeom>
          <a:solidFill>
            <a:srgbClr val="FFF8DC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Vue3大屏</a:t>
            </a:r>
            <a:endParaRPr sz="1200" b="1">
              <a:solidFill>
                <a:srgbClr val="263238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4084955" y="1123950"/>
            <a:ext cx="884555" cy="400050"/>
          </a:xfrm>
          <a:prstGeom prst="roundRect">
            <a:avLst>
              <a:gd name="adj" fmla="val 28571"/>
            </a:avLst>
          </a:prstGeom>
          <a:solidFill>
            <a:srgbClr val="FFF8DC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地图渲染</a:t>
            </a:r>
            <a:endParaRPr sz="1200" b="1">
              <a:solidFill>
                <a:srgbClr val="263238"/>
              </a:solidFill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5137785" y="1123950"/>
            <a:ext cx="872490" cy="400050"/>
          </a:xfrm>
          <a:prstGeom prst="roundRect">
            <a:avLst>
              <a:gd name="adj" fmla="val 28571"/>
            </a:avLst>
          </a:prstGeom>
          <a:solidFill>
            <a:srgbClr val="FFF8DC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三维路口</a:t>
            </a:r>
            <a:endParaRPr sz="1200" b="1">
              <a:solidFill>
                <a:srgbClr val="263238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6173470" y="1123950"/>
            <a:ext cx="883920" cy="400050"/>
          </a:xfrm>
          <a:prstGeom prst="roundRect">
            <a:avLst>
              <a:gd name="adj" fmla="val 28571"/>
            </a:avLst>
          </a:prstGeom>
          <a:solidFill>
            <a:srgbClr val="FFF8DC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车辆动画</a:t>
            </a:r>
            <a:endParaRPr sz="1200" b="1">
              <a:solidFill>
                <a:srgbClr val="263238"/>
              </a:solidFill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7320280" y="1123950"/>
            <a:ext cx="899795" cy="400050"/>
          </a:xfrm>
          <a:prstGeom prst="roundRect">
            <a:avLst>
              <a:gd name="adj" fmla="val 28571"/>
            </a:avLst>
          </a:prstGeom>
          <a:solidFill>
            <a:srgbClr val="FFF8DC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应急绿波</a:t>
            </a:r>
            <a:endParaRPr sz="1200" b="1">
              <a:solidFill>
                <a:srgbClr val="263238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8405495" y="1123950"/>
            <a:ext cx="800100" cy="400050"/>
          </a:xfrm>
          <a:prstGeom prst="roundRect">
            <a:avLst>
              <a:gd name="adj" fmla="val 28571"/>
            </a:avLst>
          </a:prstGeom>
          <a:solidFill>
            <a:srgbClr val="FFF8DC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Agent</a:t>
            </a:r>
            <a:endParaRPr sz="1200" b="1">
              <a:solidFill>
                <a:srgbClr val="263238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1343025" y="1885950"/>
            <a:ext cx="8091805" cy="1562100"/>
          </a:xfrm>
          <a:prstGeom prst="roundRect">
            <a:avLst>
              <a:gd name="adj" fmla="val 7317"/>
            </a:avLst>
          </a:prstGeom>
          <a:solidFill>
            <a:srgbClr val="C8E6C9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zh-CN" altLang="en-US"/>
          </a:p>
        </p:txBody>
      </p:sp>
      <p:sp>
        <p:nvSpPr>
          <p:cNvPr id="85" name="圆角矩形 84"/>
          <p:cNvSpPr/>
          <p:nvPr/>
        </p:nvSpPr>
        <p:spPr>
          <a:xfrm>
            <a:off x="4903470" y="2264410"/>
            <a:ext cx="4414520" cy="1106805"/>
          </a:xfrm>
          <a:prstGeom prst="roundRect">
            <a:avLst>
              <a:gd name="adj" fmla="val 7186"/>
            </a:avLst>
          </a:prstGeom>
          <a:noFill/>
          <a:ln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2695575" y="1936115"/>
            <a:ext cx="1377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63238"/>
                </a:solidFill>
              </a:defRPr>
            </a:pPr>
            <a:r>
              <a:rPr lang="zh-CN" sz="1600" b="1">
                <a:solidFill>
                  <a:srgbClr val="263238"/>
                </a:solidFill>
              </a:rPr>
              <a:t>统一</a:t>
            </a:r>
            <a:r>
              <a:rPr lang="zh-CN" sz="1600" b="1">
                <a:solidFill>
                  <a:srgbClr val="263238"/>
                </a:solidFill>
              </a:rPr>
              <a:t>响应</a:t>
            </a:r>
            <a:endParaRPr lang="zh-CN" sz="1600" b="1">
              <a:solidFill>
                <a:srgbClr val="263238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1590675" y="2381250"/>
            <a:ext cx="914400" cy="361950"/>
          </a:xfrm>
          <a:prstGeom prst="roundRect">
            <a:avLst>
              <a:gd name="adj" fmla="val 31579"/>
            </a:avLst>
          </a:prstGeom>
          <a:solidFill>
            <a:srgbClr val="E8F5E9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认证权限</a:t>
            </a:r>
            <a:endParaRPr sz="1200" b="1">
              <a:solidFill>
                <a:srgbClr val="263238"/>
              </a:solidFill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2695575" y="2381250"/>
            <a:ext cx="914400" cy="361950"/>
          </a:xfrm>
          <a:prstGeom prst="roundRect">
            <a:avLst>
              <a:gd name="adj" fmla="val 31579"/>
            </a:avLst>
          </a:prstGeom>
          <a:solidFill>
            <a:srgbClr val="E8F5E9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REST入口</a:t>
            </a:r>
            <a:endParaRPr sz="1200" b="1">
              <a:solidFill>
                <a:srgbClr val="263238"/>
              </a:solidFill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3800475" y="2381250"/>
            <a:ext cx="914400" cy="361950"/>
          </a:xfrm>
          <a:prstGeom prst="roundRect">
            <a:avLst>
              <a:gd name="adj" fmla="val 31579"/>
            </a:avLst>
          </a:prstGeom>
          <a:solidFill>
            <a:srgbClr val="E8F5E9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WebSocket</a:t>
            </a:r>
            <a:endParaRPr sz="1200" b="1">
              <a:solidFill>
                <a:srgbClr val="263238"/>
              </a:solidFill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4905375" y="2381250"/>
            <a:ext cx="914400" cy="361950"/>
          </a:xfrm>
          <a:prstGeom prst="roundRect">
            <a:avLst>
              <a:gd name="adj" fmla="val 31579"/>
            </a:avLst>
          </a:prstGeom>
          <a:solidFill>
            <a:srgbClr val="E8F5E9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场景路网</a:t>
            </a:r>
            <a:endParaRPr sz="1200" b="1">
              <a:solidFill>
                <a:srgbClr val="263238"/>
              </a:solidFill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6010275" y="2381250"/>
            <a:ext cx="914400" cy="361950"/>
          </a:xfrm>
          <a:prstGeom prst="roundRect">
            <a:avLst>
              <a:gd name="adj" fmla="val 31579"/>
            </a:avLst>
          </a:prstGeom>
          <a:solidFill>
            <a:srgbClr val="E8F5E9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仿真会话</a:t>
            </a:r>
            <a:endParaRPr sz="1200" b="1">
              <a:solidFill>
                <a:srgbClr val="263238"/>
              </a:solidFill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7115175" y="2381250"/>
            <a:ext cx="914400" cy="361950"/>
          </a:xfrm>
          <a:prstGeom prst="roundRect">
            <a:avLst>
              <a:gd name="adj" fmla="val 31579"/>
            </a:avLst>
          </a:prstGeom>
          <a:solidFill>
            <a:srgbClr val="E8F5E9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数据分析</a:t>
            </a:r>
            <a:endParaRPr sz="1200" b="1">
              <a:solidFill>
                <a:srgbClr val="263238"/>
              </a:solidFill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8220075" y="2381250"/>
            <a:ext cx="914400" cy="361950"/>
          </a:xfrm>
          <a:prstGeom prst="roundRect">
            <a:avLst>
              <a:gd name="adj" fmla="val 31579"/>
            </a:avLst>
          </a:prstGeom>
          <a:solidFill>
            <a:srgbClr val="E8F5E9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智能体</a:t>
            </a:r>
            <a:endParaRPr sz="1200" b="1">
              <a:solidFill>
                <a:srgbClr val="263238"/>
              </a:solidFill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4905375" y="2957195"/>
            <a:ext cx="914400" cy="361950"/>
          </a:xfrm>
          <a:prstGeom prst="roundRect">
            <a:avLst>
              <a:gd name="adj" fmla="val 31579"/>
            </a:avLst>
          </a:prstGeom>
          <a:solidFill>
            <a:srgbClr val="D8F3DC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策略调度</a:t>
            </a:r>
            <a:endParaRPr sz="1200" b="1">
              <a:solidFill>
                <a:srgbClr val="263238"/>
              </a:solidFill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6010275" y="2933700"/>
            <a:ext cx="914400" cy="361950"/>
          </a:xfrm>
          <a:prstGeom prst="roundRect">
            <a:avLst>
              <a:gd name="adj" fmla="val 31579"/>
            </a:avLst>
          </a:prstGeom>
          <a:solidFill>
            <a:srgbClr val="D8F3DC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  <a:defRPr sz="975" b="1">
                <a:solidFill>
                  <a:srgbClr val="263238"/>
                </a:solidFill>
              </a:defRPr>
            </a:pPr>
            <a:r>
              <a:rPr sz="1200">
                <a:sym typeface="+mn-ea"/>
              </a:rPr>
              <a:t>Safety层</a:t>
            </a:r>
            <a:endParaRPr sz="1200">
              <a:sym typeface="+mn-ea"/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7109460" y="2944495"/>
            <a:ext cx="914400" cy="361950"/>
          </a:xfrm>
          <a:prstGeom prst="roundRect">
            <a:avLst>
              <a:gd name="adj" fmla="val 31579"/>
            </a:avLst>
          </a:prstGeom>
          <a:solidFill>
            <a:srgbClr val="D8F3DC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  <a:defRPr sz="975" b="1">
                <a:solidFill>
                  <a:srgbClr val="263238"/>
                </a:solidFill>
              </a:defRPr>
            </a:pPr>
            <a:r>
              <a:rPr sz="1200">
                <a:sym typeface="+mn-ea"/>
              </a:rPr>
              <a:t>控制决策</a:t>
            </a:r>
            <a:endParaRPr sz="1200">
              <a:sym typeface="+mn-ea"/>
            </a:endParaRPr>
          </a:p>
        </p:txBody>
      </p:sp>
      <p:sp>
        <p:nvSpPr>
          <p:cNvPr id="56" name="圆角矩形 55"/>
          <p:cNvSpPr>
            <a:spLocks noGrp="1"/>
          </p:cNvSpPr>
          <p:nvPr/>
        </p:nvSpPr>
        <p:spPr>
          <a:xfrm>
            <a:off x="8220075" y="2933700"/>
            <a:ext cx="914400" cy="361950"/>
          </a:xfrm>
          <a:prstGeom prst="roundRect">
            <a:avLst>
              <a:gd name="adj" fmla="val 31579"/>
            </a:avLst>
          </a:prstGeom>
          <a:solidFill>
            <a:srgbClr val="D8F3DC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应急绿波</a:t>
            </a:r>
            <a:endParaRPr sz="1200" b="1">
              <a:solidFill>
                <a:srgbClr val="263238"/>
              </a:solidFill>
            </a:endParaRPr>
          </a:p>
        </p:txBody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5495925" y="4076700"/>
            <a:ext cx="0" cy="152400"/>
          </a:xfrm>
          <a:prstGeom prst="line">
            <a:avLst/>
          </a:prstGeom>
          <a:noFill/>
          <a:ln w="20955">
            <a:solidFill>
              <a:srgbClr val="334155"/>
            </a:solidFill>
            <a:prstDash val="solid"/>
          </a:ln>
        </p:spPr>
      </p:sp>
      <p:sp>
        <p:nvSpPr>
          <p:cNvPr id="58" name="圆角矩形 57"/>
          <p:cNvSpPr>
            <a:spLocks noGrp="1"/>
          </p:cNvSpPr>
          <p:nvPr/>
        </p:nvSpPr>
        <p:spPr>
          <a:xfrm>
            <a:off x="1342390" y="3686175"/>
            <a:ext cx="8128635" cy="1533525"/>
          </a:xfrm>
          <a:prstGeom prst="roundRect">
            <a:avLst>
              <a:gd name="adj" fmla="val 11650"/>
            </a:avLst>
          </a:prstGeom>
          <a:solidFill>
            <a:srgbClr val="B2EBF2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zh-CN" altLang="en-US"/>
          </a:p>
        </p:txBody>
      </p:sp>
      <p:sp>
        <p:nvSpPr>
          <p:cNvPr id="61" name="圆角矩形 60"/>
          <p:cNvSpPr>
            <a:spLocks noGrp="1"/>
          </p:cNvSpPr>
          <p:nvPr/>
        </p:nvSpPr>
        <p:spPr>
          <a:xfrm>
            <a:off x="4655820" y="4382135"/>
            <a:ext cx="933450" cy="419100"/>
          </a:xfrm>
          <a:prstGeom prst="roundRect">
            <a:avLst>
              <a:gd name="adj" fmla="val 27273"/>
            </a:avLst>
          </a:prstGeom>
          <a:solidFill>
            <a:srgbClr val="E0F7FA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路网解析</a:t>
            </a:r>
            <a:endParaRPr sz="1200" b="1">
              <a:solidFill>
                <a:srgbClr val="263238"/>
              </a:solidFill>
            </a:endParaRPr>
          </a:p>
        </p:txBody>
      </p:sp>
      <p:sp>
        <p:nvSpPr>
          <p:cNvPr id="62" name="圆角矩形 61"/>
          <p:cNvSpPr>
            <a:spLocks noGrp="1"/>
          </p:cNvSpPr>
          <p:nvPr/>
        </p:nvSpPr>
        <p:spPr>
          <a:xfrm>
            <a:off x="5767705" y="4378325"/>
            <a:ext cx="1128395" cy="419100"/>
          </a:xfrm>
          <a:prstGeom prst="roundRect">
            <a:avLst>
              <a:gd name="adj" fmla="val 27273"/>
            </a:avLst>
          </a:prstGeom>
          <a:solidFill>
            <a:srgbClr val="E0F7FA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后台Worker</a:t>
            </a:r>
            <a:endParaRPr sz="1200" b="1">
              <a:solidFill>
                <a:srgbClr val="263238"/>
              </a:solidFill>
            </a:endParaRPr>
          </a:p>
        </p:txBody>
      </p:sp>
      <p:sp>
        <p:nvSpPr>
          <p:cNvPr id="63" name="圆角矩形 62"/>
          <p:cNvSpPr>
            <a:spLocks noGrp="1"/>
          </p:cNvSpPr>
          <p:nvPr/>
        </p:nvSpPr>
        <p:spPr>
          <a:xfrm>
            <a:off x="7031990" y="4378325"/>
            <a:ext cx="1085215" cy="419100"/>
          </a:xfrm>
          <a:prstGeom prst="roundRect">
            <a:avLst>
              <a:gd name="adj" fmla="val 27273"/>
            </a:avLst>
          </a:prstGeom>
          <a:solidFill>
            <a:srgbClr val="E0F7FA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Frame缓存</a:t>
            </a:r>
            <a:endParaRPr sz="1200" b="1">
              <a:solidFill>
                <a:srgbClr val="263238"/>
              </a:solidFill>
            </a:endParaRPr>
          </a:p>
        </p:txBody>
      </p:sp>
      <p:sp>
        <p:nvSpPr>
          <p:cNvPr id="64" name="圆角矩形 63"/>
          <p:cNvSpPr>
            <a:spLocks noGrp="1"/>
          </p:cNvSpPr>
          <p:nvPr/>
        </p:nvSpPr>
        <p:spPr>
          <a:xfrm>
            <a:off x="8328025" y="4378325"/>
            <a:ext cx="933450" cy="419100"/>
          </a:xfrm>
          <a:prstGeom prst="roundRect">
            <a:avLst>
              <a:gd name="adj" fmla="val 27273"/>
            </a:avLst>
          </a:prstGeom>
          <a:solidFill>
            <a:srgbClr val="E0F7FA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CityFlow</a:t>
            </a:r>
            <a:endParaRPr sz="1200" b="1">
              <a:solidFill>
                <a:srgbClr val="263238"/>
              </a:solidFill>
            </a:endParaRPr>
          </a:p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1409700" y="5362575"/>
            <a:ext cx="8061960" cy="781050"/>
          </a:xfrm>
          <a:prstGeom prst="roundRect">
            <a:avLst>
              <a:gd name="adj" fmla="val 14634"/>
            </a:avLst>
          </a:prstGeom>
          <a:solidFill>
            <a:srgbClr val="DCEDC8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8" name="圆角矩形 67"/>
          <p:cNvSpPr>
            <a:spLocks noGrp="1"/>
          </p:cNvSpPr>
          <p:nvPr/>
        </p:nvSpPr>
        <p:spPr>
          <a:xfrm>
            <a:off x="2136140" y="5562600"/>
            <a:ext cx="1054735" cy="400050"/>
          </a:xfrm>
          <a:prstGeom prst="roundRect">
            <a:avLst>
              <a:gd name="adj" fmla="val 28571"/>
            </a:avLst>
          </a:prstGeom>
          <a:solidFill>
            <a:srgbClr val="F1F8E9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PostgreSQ</a:t>
            </a:r>
            <a:r>
              <a:rPr lang="en-US" sz="1200" b="1">
                <a:solidFill>
                  <a:srgbClr val="263238"/>
                </a:solidFill>
              </a:rPr>
              <a:t>L</a:t>
            </a:r>
            <a:endParaRPr lang="en-US" sz="1200" b="1">
              <a:solidFill>
                <a:srgbClr val="263238"/>
              </a:solidFill>
            </a:endParaRP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3771900" y="5562600"/>
            <a:ext cx="933450" cy="400050"/>
          </a:xfrm>
          <a:prstGeom prst="roundRect">
            <a:avLst>
              <a:gd name="adj" fmla="val 28571"/>
            </a:avLst>
          </a:prstGeom>
          <a:solidFill>
            <a:srgbClr val="F1F8E9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H2验证库</a:t>
            </a:r>
            <a:endParaRPr sz="1200" b="1">
              <a:solidFill>
                <a:srgbClr val="263238"/>
              </a:solidFill>
            </a:endParaRPr>
          </a:p>
        </p:txBody>
      </p:sp>
      <p:sp>
        <p:nvSpPr>
          <p:cNvPr id="70" name="圆角矩形 69"/>
          <p:cNvSpPr>
            <a:spLocks noGrp="1"/>
          </p:cNvSpPr>
          <p:nvPr/>
        </p:nvSpPr>
        <p:spPr>
          <a:xfrm>
            <a:off x="5304155" y="5562600"/>
            <a:ext cx="933450" cy="400050"/>
          </a:xfrm>
          <a:prstGeom prst="roundRect">
            <a:avLst>
              <a:gd name="adj" fmla="val 28571"/>
            </a:avLst>
          </a:prstGeom>
          <a:solidFill>
            <a:srgbClr val="F1F8E9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路网/车流</a:t>
            </a:r>
            <a:endParaRPr sz="1200" b="1">
              <a:solidFill>
                <a:srgbClr val="263238"/>
              </a:solidFill>
            </a:endParaRP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6744335" y="5562600"/>
            <a:ext cx="1035685" cy="400050"/>
          </a:xfrm>
          <a:prstGeom prst="roundRect">
            <a:avLst>
              <a:gd name="adj" fmla="val 28571"/>
            </a:avLst>
          </a:prstGeom>
          <a:solidFill>
            <a:srgbClr val="F1F8E9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运行时缓存</a:t>
            </a:r>
            <a:endParaRPr sz="1200" b="1">
              <a:solidFill>
                <a:srgbClr val="263238"/>
              </a:solidFill>
            </a:endParaRPr>
          </a:p>
        </p:txBody>
      </p:sp>
      <p:sp>
        <p:nvSpPr>
          <p:cNvPr id="72" name="圆角矩形 71"/>
          <p:cNvSpPr>
            <a:spLocks noGrp="1"/>
          </p:cNvSpPr>
          <p:nvPr/>
        </p:nvSpPr>
        <p:spPr>
          <a:xfrm>
            <a:off x="8286750" y="5562600"/>
            <a:ext cx="1071880" cy="400050"/>
          </a:xfrm>
          <a:prstGeom prst="roundRect">
            <a:avLst>
              <a:gd name="adj" fmla="val 28571"/>
            </a:avLst>
          </a:prstGeom>
          <a:solidFill>
            <a:srgbClr val="F1F8E9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决策与审计</a:t>
            </a:r>
            <a:endParaRPr sz="1200" b="1">
              <a:solidFill>
                <a:srgbClr val="263238"/>
              </a:solidFill>
            </a:endParaRPr>
          </a:p>
        </p:txBody>
      </p:sp>
      <p:sp>
        <p:nvSpPr>
          <p:cNvPr id="87" name="圆角矩形 86"/>
          <p:cNvSpPr/>
          <p:nvPr/>
        </p:nvSpPr>
        <p:spPr>
          <a:xfrm>
            <a:off x="1343660" y="2207260"/>
            <a:ext cx="3494405" cy="649605"/>
          </a:xfrm>
          <a:prstGeom prst="roundRect">
            <a:avLst/>
          </a:prstGeom>
          <a:noFill/>
          <a:ln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6317615" y="1978660"/>
            <a:ext cx="1377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63238"/>
                </a:solidFill>
              </a:defRPr>
            </a:pPr>
            <a:r>
              <a:rPr lang="zh-CN" sz="1600" b="1">
                <a:solidFill>
                  <a:srgbClr val="263238"/>
                </a:solidFill>
              </a:rPr>
              <a:t>核心</a:t>
            </a:r>
            <a:r>
              <a:rPr lang="zh-CN" sz="1600" b="1">
                <a:solidFill>
                  <a:srgbClr val="263238"/>
                </a:solidFill>
              </a:rPr>
              <a:t>业务</a:t>
            </a:r>
            <a:endParaRPr lang="zh-CN" sz="1600" b="1">
              <a:solidFill>
                <a:srgbClr val="263238"/>
              </a:solidFill>
            </a:endParaRPr>
          </a:p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2957830" y="4797425"/>
            <a:ext cx="1182370" cy="361950"/>
          </a:xfrm>
          <a:prstGeom prst="roundRect">
            <a:avLst>
              <a:gd name="adj" fmla="val 31579"/>
            </a:avLst>
          </a:prstGeom>
          <a:solidFill>
            <a:srgbClr val="E0F7FA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  <a:defRPr sz="975" b="1">
                <a:solidFill>
                  <a:srgbClr val="263238"/>
                </a:solidFill>
              </a:defRPr>
            </a:pPr>
            <a:r>
              <a:rPr sz="1200">
                <a:sym typeface="+mn-ea"/>
              </a:rPr>
              <a:t>MaxPress</a:t>
            </a:r>
            <a:endParaRPr sz="1200">
              <a:sym typeface="+mn-ea"/>
            </a:endParaRPr>
          </a:p>
        </p:txBody>
      </p:sp>
      <p:sp>
        <p:nvSpPr>
          <p:cNvPr id="93" name="圆角矩形 92"/>
          <p:cNvSpPr>
            <a:spLocks noGrp="1"/>
          </p:cNvSpPr>
          <p:nvPr/>
        </p:nvSpPr>
        <p:spPr>
          <a:xfrm>
            <a:off x="1854200" y="4797425"/>
            <a:ext cx="978535" cy="361950"/>
          </a:xfrm>
          <a:prstGeom prst="roundRect">
            <a:avLst>
              <a:gd name="adj" fmla="val 31579"/>
            </a:avLst>
          </a:prstGeom>
          <a:solidFill>
            <a:srgbClr val="E0F7FA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  <a:defRPr sz="975" b="1">
                <a:solidFill>
                  <a:srgbClr val="263238"/>
                </a:solidFill>
              </a:defRPr>
            </a:pPr>
            <a:r>
              <a:rPr sz="1200">
                <a:sym typeface="+mn-ea"/>
              </a:rPr>
              <a:t>Traffic-R</a:t>
            </a:r>
            <a:endParaRPr sz="1200">
              <a:sym typeface="+mn-ea"/>
            </a:endParaRP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2913380" y="4234180"/>
            <a:ext cx="1226820" cy="419100"/>
          </a:xfrm>
          <a:prstGeom prst="roundRect">
            <a:avLst>
              <a:gd name="adj" fmla="val 27273"/>
            </a:avLst>
          </a:prstGeom>
          <a:solidFill>
            <a:srgbClr val="E0F7FA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  <a:defRPr sz="975" b="1">
                <a:solidFill>
                  <a:srgbClr val="263238"/>
                </a:solidFill>
              </a:defRPr>
            </a:pPr>
            <a:r>
              <a:rPr sz="1200">
                <a:sym typeface="+mn-ea"/>
              </a:rPr>
              <a:t>短时交通</a:t>
            </a:r>
            <a:r>
              <a:rPr sz="1200">
                <a:sym typeface="+mn-ea"/>
              </a:rPr>
              <a:t>预测</a:t>
            </a:r>
            <a:endParaRPr sz="1200">
              <a:sym typeface="+mn-ea"/>
            </a:endParaRPr>
          </a:p>
        </p:txBody>
      </p:sp>
      <p:sp>
        <p:nvSpPr>
          <p:cNvPr id="96" name="圆角矩形 95"/>
          <p:cNvSpPr>
            <a:spLocks noGrp="1"/>
          </p:cNvSpPr>
          <p:nvPr/>
        </p:nvSpPr>
        <p:spPr>
          <a:xfrm>
            <a:off x="1899285" y="4234180"/>
            <a:ext cx="933450" cy="419100"/>
          </a:xfrm>
          <a:prstGeom prst="roundRect">
            <a:avLst>
              <a:gd name="adj" fmla="val 27273"/>
            </a:avLst>
          </a:prstGeom>
          <a:solidFill>
            <a:srgbClr val="E0F7FA"/>
          </a:solidFill>
          <a:ln w="15240">
            <a:solidFill>
              <a:srgbClr val="26323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  <a:defRPr sz="975" b="1">
                <a:solidFill>
                  <a:srgbClr val="263238"/>
                </a:solidFill>
              </a:defRPr>
            </a:pPr>
            <a:r>
              <a:rPr sz="1200">
                <a:sym typeface="+mn-ea"/>
              </a:rPr>
              <a:t>应急</a:t>
            </a:r>
            <a:r>
              <a:rPr sz="1200">
                <a:sym typeface="+mn-ea"/>
              </a:rPr>
              <a:t>绿波</a:t>
            </a:r>
            <a:endParaRPr sz="1200">
              <a:sym typeface="+mn-ea"/>
            </a:endParaRPr>
          </a:p>
        </p:txBody>
      </p:sp>
      <p:sp>
        <p:nvSpPr>
          <p:cNvPr id="97" name="圆角矩形 96"/>
          <p:cNvSpPr/>
          <p:nvPr/>
        </p:nvSpPr>
        <p:spPr>
          <a:xfrm>
            <a:off x="1591310" y="3836035"/>
            <a:ext cx="2893060" cy="1431925"/>
          </a:xfrm>
          <a:prstGeom prst="roundRect">
            <a:avLst/>
          </a:prstGeom>
          <a:noFill/>
          <a:ln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8" name="圆角矩形 97"/>
          <p:cNvSpPr/>
          <p:nvPr/>
        </p:nvSpPr>
        <p:spPr>
          <a:xfrm>
            <a:off x="4584065" y="3836035"/>
            <a:ext cx="4774565" cy="1255395"/>
          </a:xfrm>
          <a:prstGeom prst="roundRect">
            <a:avLst/>
          </a:prstGeom>
          <a:noFill/>
          <a:ln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矩形 98"/>
          <p:cNvSpPr>
            <a:spLocks noGrp="1"/>
          </p:cNvSpPr>
          <p:nvPr/>
        </p:nvSpPr>
        <p:spPr>
          <a:xfrm>
            <a:off x="2505075" y="3861435"/>
            <a:ext cx="1377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63238"/>
                </a:solidFill>
              </a:defRPr>
            </a:pPr>
            <a:r>
              <a:rPr lang="zh-CN" sz="1600" b="1">
                <a:solidFill>
                  <a:srgbClr val="263238"/>
                </a:solidFill>
              </a:rPr>
              <a:t>核心</a:t>
            </a:r>
            <a:r>
              <a:rPr lang="zh-CN" sz="1600" b="1">
                <a:solidFill>
                  <a:srgbClr val="263238"/>
                </a:solidFill>
              </a:rPr>
              <a:t>算法</a:t>
            </a:r>
            <a:endParaRPr lang="zh-CN" sz="1600" b="1">
              <a:solidFill>
                <a:srgbClr val="263238"/>
              </a:solidFill>
            </a:endParaRPr>
          </a:p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5951855" y="3933190"/>
            <a:ext cx="199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63238"/>
                </a:solidFill>
              </a:defRPr>
            </a:pPr>
            <a:r>
              <a:rPr lang="en-US" altLang="zh-CN" sz="1600" b="1">
                <a:solidFill>
                  <a:srgbClr val="263238"/>
                </a:solidFill>
              </a:rPr>
              <a:t>Python CityFlow</a:t>
            </a:r>
            <a:r>
              <a:rPr lang="zh-CN" altLang="en-US" sz="1600" b="1">
                <a:solidFill>
                  <a:srgbClr val="263238"/>
                </a:solidFill>
              </a:rPr>
              <a:t>服务</a:t>
            </a:r>
            <a:endParaRPr lang="zh-CN" altLang="en-US" sz="1600" b="1">
              <a:solidFill>
                <a:srgbClr val="263238"/>
              </a:solidFill>
            </a:endParaRPr>
          </a:p>
        </p:txBody>
      </p:sp>
      <p:pic>
        <p:nvPicPr>
          <p:cNvPr id="101" name="图片 100" descr="浏览器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9560" y="1052830"/>
            <a:ext cx="591185" cy="591185"/>
          </a:xfrm>
          <a:prstGeom prst="rect">
            <a:avLst/>
          </a:prstGeom>
        </p:spPr>
      </p:pic>
      <p:sp>
        <p:nvSpPr>
          <p:cNvPr id="106" name="圆角矩形 105"/>
          <p:cNvSpPr/>
          <p:nvPr/>
        </p:nvSpPr>
        <p:spPr>
          <a:xfrm>
            <a:off x="9696450" y="908685"/>
            <a:ext cx="2434590" cy="196151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altLang="zh-CN" sz="1200" b="1">
              <a:solidFill>
                <a:schemeClr val="tx1"/>
              </a:solidFill>
            </a:endParaRPr>
          </a:p>
          <a:p>
            <a:pPr algn="l"/>
            <a:r>
              <a:rPr lang="en-US" altLang="zh-CN" sz="1200" b="1">
                <a:solidFill>
                  <a:schemeClr val="tx1"/>
                </a:solidFill>
              </a:rPr>
              <a:t>GET /api/v1/scenes/{sceneId}/roadnetPOST /api/v1/simulations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l"/>
            <a:r>
              <a:rPr lang="en-US" altLang="zh-CN" sz="1200" b="1">
                <a:solidFill>
                  <a:schemeClr val="tx1"/>
                </a:solidFill>
              </a:rPr>
              <a:t> POST /api/v1/simulations/{sid}/start|pause|stop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l"/>
            <a:r>
              <a:rPr lang="en-US" altLang="zh-CN" sz="1200" b="1">
                <a:solidFill>
                  <a:schemeClr val="tx1"/>
                </a:solidFill>
              </a:rPr>
              <a:t>- WS /ws/v1/simulations/{sid} /api/v1/dashboard、/data-analysis、/agent、/emergency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9552305" y="5157470"/>
            <a:ext cx="2236470" cy="132270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altLang="zh-CN" sz="1000" b="1">
              <a:solidFill>
                <a:schemeClr val="tx1"/>
              </a:solidFill>
            </a:endParaRPr>
          </a:p>
          <a:p>
            <a:pPr algn="l"/>
            <a:endParaRPr lang="en-US" altLang="zh-CN" sz="1000" b="1">
              <a:solidFill>
                <a:schemeClr val="tx1"/>
              </a:solidFill>
            </a:endParaRPr>
          </a:p>
          <a:p>
            <a:pPr algn="l"/>
            <a:r>
              <a:rPr lang="en-US" altLang="zh-CN" sz="1000" b="1">
                <a:solidFill>
                  <a:schemeClr val="tx1"/>
                </a:solidFill>
              </a:rPr>
              <a:t>GET /cityflow/scenes/{sceneId}/roadnet</a:t>
            </a:r>
            <a:endParaRPr lang="en-US" altLang="zh-CN" sz="1000" b="1">
              <a:solidFill>
                <a:schemeClr val="tx1"/>
              </a:solidFill>
            </a:endParaRPr>
          </a:p>
          <a:p>
            <a:pPr algn="l"/>
            <a:r>
              <a:rPr lang="en-US" altLang="zh-CN" sz="1000" b="1">
                <a:solidFill>
                  <a:schemeClr val="tx1"/>
                </a:solidFill>
              </a:rPr>
              <a:t>POST /cityflow/simulations</a:t>
            </a:r>
            <a:endParaRPr lang="en-US" altLang="zh-CN" sz="1000" b="1">
              <a:solidFill>
                <a:schemeClr val="tx1"/>
              </a:solidFill>
            </a:endParaRPr>
          </a:p>
          <a:p>
            <a:pPr algn="l"/>
            <a:r>
              <a:rPr lang="en-US" altLang="zh-CN" sz="1000" b="1">
                <a:solidFill>
                  <a:schemeClr val="tx1"/>
                </a:solidFill>
              </a:rPr>
              <a:t>GET /cityflow/simulations/{sid}/frame</a:t>
            </a:r>
            <a:endParaRPr lang="en-US" altLang="zh-CN" sz="1000" b="1">
              <a:solidFill>
                <a:schemeClr val="tx1"/>
              </a:solidFill>
            </a:endParaRPr>
          </a:p>
          <a:p>
            <a:pPr algn="l"/>
            <a:r>
              <a:rPr lang="en-US" altLang="zh-CN" sz="1000" b="1">
                <a:solidFill>
                  <a:schemeClr val="tx1"/>
                </a:solidFill>
              </a:rPr>
              <a:t>POST /cityflow/simulations/{sid}/actions</a:t>
            </a:r>
            <a:endParaRPr lang="en-US" altLang="zh-CN" sz="1000" b="1">
              <a:solidFill>
                <a:schemeClr val="tx1"/>
              </a:solidFill>
            </a:endParaRPr>
          </a:p>
          <a:p>
            <a:pPr algn="l"/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08" name="圆角矩形 107"/>
          <p:cNvSpPr/>
          <p:nvPr/>
        </p:nvSpPr>
        <p:spPr>
          <a:xfrm>
            <a:off x="10416540" y="3765550"/>
            <a:ext cx="1859280" cy="126111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Traffic-R /predict-batch：</a:t>
            </a:r>
            <a:r>
              <a:rPr lang="zh-CN" altLang="en-US" sz="1200" b="1">
                <a:solidFill>
                  <a:schemeClr val="tx1"/>
                </a:solidFill>
              </a:rPr>
              <a:t>批量生成 </a:t>
            </a:r>
            <a:r>
              <a:rPr lang="en-US" altLang="zh-CN" sz="1200" b="1">
                <a:solidFill>
                  <a:schemeClr val="tx1"/>
                </a:solidFill>
              </a:rPr>
              <a:t>RL </a:t>
            </a:r>
            <a:r>
              <a:rPr lang="zh-CN" altLang="en-US" sz="1200" b="1">
                <a:solidFill>
                  <a:schemeClr val="tx1"/>
                </a:solidFill>
              </a:rPr>
              <a:t>控制决策</a:t>
            </a:r>
            <a:r>
              <a:rPr lang="en-US" altLang="zh-CN" sz="1200" b="1">
                <a:solidFill>
                  <a:schemeClr val="tx1"/>
                </a:solidFill>
              </a:rPr>
              <a:t> Traffic Forecast /predict：</a:t>
            </a:r>
            <a:r>
              <a:rPr lang="zh-CN" altLang="en-US" sz="1200" b="1">
                <a:solidFill>
                  <a:schemeClr val="tx1"/>
                </a:solidFill>
              </a:rPr>
              <a:t>短时交通预测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10488295" y="952500"/>
            <a:ext cx="1327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</a:rPr>
              <a:t>前端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10128250" y="3117215"/>
            <a:ext cx="1792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Spring Boot</a:t>
            </a:r>
            <a:r>
              <a:rPr lang="zh-CN" altLang="en-US" b="1"/>
              <a:t>后端</a:t>
            </a:r>
            <a:endParaRPr lang="zh-CN" altLang="en-US" b="1"/>
          </a:p>
        </p:txBody>
      </p:sp>
      <p:cxnSp>
        <p:nvCxnSpPr>
          <p:cNvPr id="111" name="直接箭头连接符 110"/>
          <p:cNvCxnSpPr/>
          <p:nvPr/>
        </p:nvCxnSpPr>
        <p:spPr>
          <a:xfrm flipH="1">
            <a:off x="10848340" y="2747645"/>
            <a:ext cx="4445" cy="3930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/>
          <p:nvPr/>
        </p:nvCxnSpPr>
        <p:spPr>
          <a:xfrm flipH="1">
            <a:off x="10056495" y="3475355"/>
            <a:ext cx="328295" cy="16821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/>
          <p:nvPr/>
        </p:nvCxnSpPr>
        <p:spPr>
          <a:xfrm>
            <a:off x="11182350" y="3507105"/>
            <a:ext cx="242570" cy="3536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4" name="文本框 113"/>
          <p:cNvSpPr txBox="1"/>
          <p:nvPr/>
        </p:nvSpPr>
        <p:spPr>
          <a:xfrm>
            <a:off x="10632440" y="3789045"/>
            <a:ext cx="1475105" cy="200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云端</a:t>
            </a:r>
            <a:r>
              <a:rPr lang="en-US" altLang="zh-CN" b="1"/>
              <a:t>RL</a:t>
            </a:r>
            <a:r>
              <a:rPr lang="zh-CN" altLang="en-US" b="1"/>
              <a:t>模型</a:t>
            </a:r>
            <a:endParaRPr lang="zh-CN" altLang="en-US" b="1"/>
          </a:p>
        </p:txBody>
      </p:sp>
      <p:sp>
        <p:nvSpPr>
          <p:cNvPr id="115" name="文本框 114"/>
          <p:cNvSpPr txBox="1"/>
          <p:nvPr/>
        </p:nvSpPr>
        <p:spPr>
          <a:xfrm>
            <a:off x="9820275" y="5157470"/>
            <a:ext cx="199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CityFlow</a:t>
            </a:r>
            <a:r>
              <a:rPr lang="zh-CN" altLang="en-US" b="1"/>
              <a:t>仿真模型</a:t>
            </a:r>
            <a:endParaRPr lang="zh-CN" altLang="en-US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4532779&quot;,&quot;origin&quot;:0,&quot;type&quot;:&quot;icons&quot;,&quot;user&quot;:&quot;1463431564&quot;}"/>
</p:tagLst>
</file>

<file path=ppt/tags/tag2.xml><?xml version="1.0" encoding="utf-8"?>
<p:tagLst xmlns:p="http://schemas.openxmlformats.org/presentationml/2006/main">
  <p:tag name="resource_record_key" val="{&quot;10&quot;:[4532779]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723</Words>
  <Application>WPS 演示</Application>
  <PresentationFormat>Converted Presentation</PresentationFormat>
  <Paragraphs>105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Calibri</vt:lpstr>
      <vt:lpstr>Calibri Light</vt:lpstr>
      <vt:lpstr>微软雅黑</vt:lpstr>
      <vt:lpstr>Arial Unicode MS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蓝</cp:lastModifiedBy>
  <cp:revision>3</cp:revision>
  <dcterms:created xsi:type="dcterms:W3CDTF">2026-07-14T07:04:16Z</dcterms:created>
  <dcterms:modified xsi:type="dcterms:W3CDTF">2026-07-14T07:28:35Z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5D94B03B0928492ABAE03B984DD0EDA7_12</vt:lpwstr>
  </property>
</Properties>
</file>